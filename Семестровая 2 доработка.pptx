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</p:sldIdLst>
  <p:sldSz cy="6858000" cx="12192000"/>
  <p:notesSz cx="6858000" cy="9144000"/>
  <p:embeddedFontLst>
    <p:embeddedFont>
      <p:font typeface="Play"/>
      <p:regular r:id="rId17"/>
      <p:bold r:id="rId1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Play-regular.fntdata"/><Relationship Id="rId16" Type="http://schemas.openxmlformats.org/officeDocument/2006/relationships/slide" Target="slides/slide12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18" Type="http://schemas.openxmlformats.org/officeDocument/2006/relationships/font" Target="fonts/Play-bold.fntdata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7" name="Google Shape;87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37ce1dfe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5" name="Google Shape;95;g3e37ce1dfe1_0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1" name="Google Shape;101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g3e283835bee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g3e283835bee_0_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283835b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8" name="Google Shape;128;g3e283835bee_0_1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283835bee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g3e283835bee_0_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g3e283835bee_0_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g3e283835bee_0_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g3e283835bee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2" name="Google Shape;162;g3e283835bee_0_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0" name="Google Shape;17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6" name="Google Shape;176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итульный слайд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объект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раздела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4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Play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757575"/>
              </a:buClr>
              <a:buSzPts val="2400"/>
              <a:buNone/>
              <a:defRPr sz="2400">
                <a:solidFill>
                  <a:srgbClr val="757575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2000"/>
              <a:buNone/>
              <a:defRPr sz="2000">
                <a:solidFill>
                  <a:srgbClr val="757575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800"/>
              <a:buNone/>
              <a:defRPr sz="1800">
                <a:solidFill>
                  <a:srgbClr val="757575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757575"/>
              </a:buClr>
              <a:buSzPts val="1600"/>
              <a:buNone/>
              <a:defRPr sz="1600">
                <a:solidFill>
                  <a:srgbClr val="757575"/>
                </a:solidFill>
              </a:defRPr>
            </a:lvl9pPr>
          </a:lstStyle>
          <a:p/>
        </p:txBody>
      </p:sp>
      <p:sp>
        <p:nvSpPr>
          <p:cNvPr id="26" name="Google Shape;26;p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Два объекта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Сравнение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6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6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6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6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Только заголовок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Пустой слайд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Объект с подписью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Рисунок с подписью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Pla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Заголовок и вертикальный текст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Вертикальный заголовок и текст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Play"/>
              <a:buNone/>
              <a:defRPr b="0" i="0" sz="4400" u="none" cap="none" strike="noStrike">
                <a:solidFill>
                  <a:schemeClr val="dk1"/>
                </a:solidFill>
                <a:latin typeface="Play"/>
                <a:ea typeface="Play"/>
                <a:cs typeface="Play"/>
                <a:sym typeface="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757575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6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1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14.png"/><Relationship Id="rId6" Type="http://schemas.openxmlformats.org/officeDocument/2006/relationships/image" Target="../media/image12.png"/><Relationship Id="rId7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Relationship Id="rId6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10.png"/><Relationship Id="rId4" Type="http://schemas.openxmlformats.org/officeDocument/2006/relationships/image" Target="../media/image2.png"/><Relationship Id="rId5" Type="http://schemas.openxmlformats.org/officeDocument/2006/relationships/image" Target="../media/image18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Arial"/>
              <a:buNone/>
            </a:pPr>
            <a:r>
              <a:rPr b="1" lang="en-US">
                <a:latin typeface="Arial"/>
                <a:ea typeface="Arial"/>
                <a:cs typeface="Arial"/>
                <a:sym typeface="Arial"/>
              </a:rPr>
              <a:t>B*- дерево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Краткая историческая справка</a:t>
            </a:r>
            <a:endParaRPr/>
          </a:p>
        </p:txBody>
      </p:sp>
      <p:sp>
        <p:nvSpPr>
          <p:cNvPr id="90" name="Google Shape;90;p14"/>
          <p:cNvSpPr txBox="1"/>
          <p:nvPr>
            <p:ph idx="1" type="body"/>
          </p:nvPr>
        </p:nvSpPr>
        <p:spPr>
          <a:xfrm>
            <a:off x="838200" y="1825625"/>
            <a:ext cx="76386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b="1" lang="en-US" sz="1800"/>
              <a:t>B*-дерево</a:t>
            </a:r>
            <a:r>
              <a:rPr lang="en-US" sz="1800"/>
              <a:t> — это сбалансированное дерево поиска, которое является оптимизацией классического B-дерева за счет более высокой плотности заполнения узлов.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rPr lang="en-US" sz="1800">
                <a:solidFill>
                  <a:srgbClr val="000000"/>
                </a:solidFill>
              </a:rPr>
              <a:t>Концепцию B*-дерева предложил </a:t>
            </a:r>
            <a:r>
              <a:rPr b="1" lang="en-US" sz="1800">
                <a:solidFill>
                  <a:srgbClr val="000000"/>
                </a:solidFill>
              </a:rPr>
              <a:t>Дональд Кнут</a:t>
            </a:r>
            <a:r>
              <a:rPr lang="en-US" sz="1800">
                <a:solidFill>
                  <a:srgbClr val="000000"/>
                </a:solidFill>
              </a:rPr>
              <a:t> в 1973 году в своем фундаментальном труде «Искусство программирования» </a:t>
            </a:r>
            <a:endParaRPr sz="18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900"/>
              </a:spcBef>
              <a:spcAft>
                <a:spcPts val="0"/>
              </a:spcAft>
              <a:buNone/>
            </a:pPr>
            <a:r>
              <a:rPr b="1" lang="en-US" sz="1800"/>
              <a:t>Цель создания</a:t>
            </a:r>
            <a:r>
              <a:rPr lang="en-US" sz="1800"/>
              <a:t> заключалась в том, чтобы снизить затраты на выделение памяти и уменьшить частоту расщепления узлов, которая в обычных B-деревьях приводила к избыточному числу дисковых операций.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5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1800">
              <a:solidFill>
                <a:srgbClr val="000000"/>
              </a:solidFill>
            </a:endParaRPr>
          </a:p>
        </p:txBody>
      </p:sp>
      <p:pic>
        <p:nvPicPr>
          <p:cNvPr id="91" name="Google Shape;91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012150" y="1690702"/>
            <a:ext cx="2137175" cy="32098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4"/>
          <p:cNvSpPr txBox="1"/>
          <p:nvPr/>
        </p:nvSpPr>
        <p:spPr>
          <a:xfrm>
            <a:off x="9343785" y="4900500"/>
            <a:ext cx="1473900" cy="415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500">
                <a:solidFill>
                  <a:schemeClr val="dk1"/>
                </a:solidFill>
              </a:rPr>
              <a:t>Дональд Кнут</a:t>
            </a:r>
            <a:endParaRPr sz="15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5"/>
          <p:cNvSpPr txBox="1"/>
          <p:nvPr>
            <p:ph type="title"/>
          </p:nvPr>
        </p:nvSpPr>
        <p:spPr>
          <a:xfrm>
            <a:off x="838200" y="365125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Отличие от обычного B-дерева</a:t>
            </a:r>
            <a:endParaRPr/>
          </a:p>
        </p:txBody>
      </p:sp>
      <p:sp>
        <p:nvSpPr>
          <p:cNvPr id="98" name="Google Shape;98;p15"/>
          <p:cNvSpPr txBox="1"/>
          <p:nvPr>
            <p:ph idx="1" type="body"/>
          </p:nvPr>
        </p:nvSpPr>
        <p:spPr>
          <a:xfrm>
            <a:off x="838200" y="1825625"/>
            <a:ext cx="10401000" cy="43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Главное отличие B*-дерева заключается в том, что оно старается </a:t>
            </a:r>
            <a:r>
              <a:rPr b="1" lang="en-US" sz="1800"/>
              <a:t>максимально заполнить узлы (минимум на 2/3)</a:t>
            </a:r>
            <a:r>
              <a:rPr lang="en-US" sz="1800"/>
              <a:t> перед разбиением.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В обычном B-дереве переполненный узел сразу делится на два.</a:t>
            </a:r>
            <a:br>
              <a:rPr lang="en-US" sz="1800"/>
            </a:br>
            <a:r>
              <a:rPr lang="en-US" sz="1800"/>
              <a:t> В B*-дереве сначала пытаются </a:t>
            </a:r>
            <a:r>
              <a:rPr b="1" lang="en-US" sz="1800"/>
              <a:t>перераспределить</a:t>
            </a:r>
            <a:r>
              <a:rPr lang="en-US" sz="1800"/>
              <a:t> ключи между соседними узлами. Только если это невозможно, выполняется разбиение двух узлов на три.</a:t>
            </a:r>
            <a:endParaRPr sz="18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800"/>
              <a:t>За счёт этого: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1800"/>
              <a:t>уменьшается высота дерева;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800"/>
              <a:t>сокращается число обращений к диску;</a:t>
            </a:r>
            <a:endParaRPr sz="1800"/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1800"/>
              <a:t>память используется эффективнее.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1800"/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6"/>
          <p:cNvSpPr txBox="1"/>
          <p:nvPr>
            <p:ph type="title"/>
          </p:nvPr>
        </p:nvSpPr>
        <p:spPr>
          <a:xfrm>
            <a:off x="163643" y="-209498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Принцип работы</a:t>
            </a:r>
            <a:endParaRPr/>
          </a:p>
        </p:txBody>
      </p:sp>
      <p:sp>
        <p:nvSpPr>
          <p:cNvPr id="104" name="Google Shape;104;p16"/>
          <p:cNvSpPr txBox="1"/>
          <p:nvPr>
            <p:ph idx="1" type="body"/>
          </p:nvPr>
        </p:nvSpPr>
        <p:spPr>
          <a:xfrm>
            <a:off x="163643" y="820035"/>
            <a:ext cx="8785485" cy="192168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5" name="Google Shape;105;p16"/>
          <p:cNvSpPr txBox="1"/>
          <p:nvPr/>
        </p:nvSpPr>
        <p:spPr>
          <a:xfrm>
            <a:off x="418536" y="898321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16"/>
          <p:cNvSpPr txBox="1"/>
          <p:nvPr/>
        </p:nvSpPr>
        <p:spPr>
          <a:xfrm>
            <a:off x="306246" y="959571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7" name="Google Shape;107;p16"/>
          <p:cNvSpPr txBox="1"/>
          <p:nvPr/>
        </p:nvSpPr>
        <p:spPr>
          <a:xfrm>
            <a:off x="428744" y="918738"/>
            <a:ext cx="2743200" cy="36576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8" name="Google Shape;108;p16"/>
          <p:cNvSpPr txBox="1"/>
          <p:nvPr/>
        </p:nvSpPr>
        <p:spPr>
          <a:xfrm>
            <a:off x="164738" y="889656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Поиск : алгоритм</a:t>
            </a:r>
            <a:endParaRPr/>
          </a:p>
        </p:txBody>
      </p:sp>
      <p:sp>
        <p:nvSpPr>
          <p:cNvPr id="109" name="Google Shape;109;p16"/>
          <p:cNvSpPr txBox="1"/>
          <p:nvPr/>
        </p:nvSpPr>
        <p:spPr>
          <a:xfrm>
            <a:off x="162393" y="1255426"/>
            <a:ext cx="11655000" cy="1794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Поиск начинается с корневого узла.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Ключи внутри узла просматриваются в отсортированном порядке.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Если нужный ключ найден, поиск завершается.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Если ключ меньше текущего ключа узла, выполняется переход к левому потомку.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Если ключ больше, переход осуществляется к соответствующему правому потомку.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AutoNum type="arabicPeriod"/>
            </a:pPr>
            <a:r>
              <a:rPr lang="en-US">
                <a:solidFill>
                  <a:schemeClr val="dk1"/>
                </a:solidFill>
              </a:rPr>
              <a:t>Процесс повторяется до нахождения ключа или достижения листового узла.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110" name="Google Shape;110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5275" y="3077046"/>
            <a:ext cx="9896475" cy="2581275"/>
          </a:xfrm>
          <a:prstGeom prst="rect">
            <a:avLst/>
          </a:prstGeom>
          <a:noFill/>
          <a:ln>
            <a:noFill/>
          </a:ln>
        </p:spPr>
      </p:pic>
      <p:sp>
        <p:nvSpPr>
          <p:cNvPr id="111" name="Google Shape;111;p16"/>
          <p:cNvSpPr txBox="1"/>
          <p:nvPr/>
        </p:nvSpPr>
        <p:spPr>
          <a:xfrm>
            <a:off x="185200" y="5801925"/>
            <a:ext cx="528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200">
                <a:solidFill>
                  <a:srgbClr val="333333"/>
                </a:solidFill>
                <a:highlight>
                  <a:srgbClr val="FFFFFF"/>
                </a:highlight>
              </a:rPr>
              <a:t>Сложность О(log n)</a:t>
            </a:r>
            <a:endParaRPr b="1"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7"/>
          <p:cNvSpPr txBox="1"/>
          <p:nvPr>
            <p:ph type="title"/>
          </p:nvPr>
        </p:nvSpPr>
        <p:spPr>
          <a:xfrm>
            <a:off x="163643" y="-20949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Принцип работы</a:t>
            </a:r>
            <a:endParaRPr/>
          </a:p>
        </p:txBody>
      </p:sp>
      <p:sp>
        <p:nvSpPr>
          <p:cNvPr id="117" name="Google Shape;117;p17"/>
          <p:cNvSpPr txBox="1"/>
          <p:nvPr>
            <p:ph idx="1" type="body"/>
          </p:nvPr>
        </p:nvSpPr>
        <p:spPr>
          <a:xfrm>
            <a:off x="163643" y="820035"/>
            <a:ext cx="8785500" cy="19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8" name="Google Shape;118;p17"/>
          <p:cNvSpPr txBox="1"/>
          <p:nvPr/>
        </p:nvSpPr>
        <p:spPr>
          <a:xfrm>
            <a:off x="418536" y="89832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p17"/>
          <p:cNvSpPr txBox="1"/>
          <p:nvPr/>
        </p:nvSpPr>
        <p:spPr>
          <a:xfrm>
            <a:off x="306246" y="95957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0" name="Google Shape;120;p17"/>
          <p:cNvSpPr txBox="1"/>
          <p:nvPr/>
        </p:nvSpPr>
        <p:spPr>
          <a:xfrm>
            <a:off x="428744" y="918738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1" name="Google Shape;121;p17"/>
          <p:cNvSpPr txBox="1"/>
          <p:nvPr/>
        </p:nvSpPr>
        <p:spPr>
          <a:xfrm>
            <a:off x="164738" y="889656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Вставка</a:t>
            </a:r>
            <a:endParaRPr/>
          </a:p>
        </p:txBody>
      </p:sp>
      <p:sp>
        <p:nvSpPr>
          <p:cNvPr id="122" name="Google Shape;122;p17"/>
          <p:cNvSpPr txBox="1"/>
          <p:nvPr/>
        </p:nvSpPr>
        <p:spPr>
          <a:xfrm>
            <a:off x="162393" y="1255426"/>
            <a:ext cx="11655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Выполняется поиск листового узла, в который должен быть вставлен новый ключ.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Ключ добавляется в узел с сохранением сортировки.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Если после вставки узел не переполнен, операция завершается.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Если узел переполнен, дерево пытается перераспределить ключи между данным узлом и соседним узлом того же уровня.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Часть ключей переносится через родительский узел так, чтобы оба узла оставались равномерно заполненными.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Если соседний узел также заполнен, выполняется разбиение двух узлов на три.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Ключи перераспределяются между тремя узлами, а разделяющие ключи поднимаются в родительский узел.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При необходимости балансировка продолжается вверх по дереву.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pic>
        <p:nvPicPr>
          <p:cNvPr id="123" name="Google Shape;12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28750" y="3120447"/>
            <a:ext cx="6441832" cy="3811365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17"/>
          <p:cNvSpPr txBox="1"/>
          <p:nvPr/>
        </p:nvSpPr>
        <p:spPr>
          <a:xfrm>
            <a:off x="6870575" y="4602575"/>
            <a:ext cx="52881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333333"/>
                </a:solidFill>
                <a:highlight>
                  <a:schemeClr val="lt1"/>
                </a:highlight>
              </a:rPr>
              <a:t>Сложность О(log n)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125" name="Google Shape;125;p17"/>
          <p:cNvSpPr txBox="1"/>
          <p:nvPr/>
        </p:nvSpPr>
        <p:spPr>
          <a:xfrm>
            <a:off x="3049438" y="3832325"/>
            <a:ext cx="923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>
                <a:solidFill>
                  <a:schemeClr val="dk1"/>
                </a:solidFill>
              </a:rPr>
              <a:t>15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8"/>
          <p:cNvSpPr txBox="1"/>
          <p:nvPr>
            <p:ph type="title"/>
          </p:nvPr>
        </p:nvSpPr>
        <p:spPr>
          <a:xfrm>
            <a:off x="163643" y="-20949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Принцип работы</a:t>
            </a:r>
            <a:endParaRPr/>
          </a:p>
        </p:txBody>
      </p:sp>
      <p:sp>
        <p:nvSpPr>
          <p:cNvPr id="131" name="Google Shape;131;p18"/>
          <p:cNvSpPr txBox="1"/>
          <p:nvPr>
            <p:ph idx="1" type="body"/>
          </p:nvPr>
        </p:nvSpPr>
        <p:spPr>
          <a:xfrm>
            <a:off x="163643" y="820035"/>
            <a:ext cx="8785500" cy="1921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 b="1"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br>
              <a:rPr lang="en-US"/>
            </a:br>
            <a:endParaRPr sz="2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p18"/>
          <p:cNvSpPr txBox="1"/>
          <p:nvPr/>
        </p:nvSpPr>
        <p:spPr>
          <a:xfrm>
            <a:off x="418536" y="89832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p18"/>
          <p:cNvSpPr txBox="1"/>
          <p:nvPr/>
        </p:nvSpPr>
        <p:spPr>
          <a:xfrm>
            <a:off x="306246" y="959571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p18"/>
          <p:cNvSpPr txBox="1"/>
          <p:nvPr/>
        </p:nvSpPr>
        <p:spPr>
          <a:xfrm>
            <a:off x="428744" y="918738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p18"/>
          <p:cNvSpPr txBox="1"/>
          <p:nvPr/>
        </p:nvSpPr>
        <p:spPr>
          <a:xfrm>
            <a:off x="164738" y="889656"/>
            <a:ext cx="27432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1800">
                <a:solidFill>
                  <a:schemeClr val="dk1"/>
                </a:solidFill>
              </a:rPr>
              <a:t>Удаление</a:t>
            </a:r>
            <a:endParaRPr/>
          </a:p>
        </p:txBody>
      </p:sp>
      <p:sp>
        <p:nvSpPr>
          <p:cNvPr id="136" name="Google Shape;136;p18"/>
          <p:cNvSpPr txBox="1"/>
          <p:nvPr/>
        </p:nvSpPr>
        <p:spPr>
          <a:xfrm>
            <a:off x="162393" y="1255426"/>
            <a:ext cx="116550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Выполняется поиск удаляемого ключа.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Если ключ расположен во внутреннем узле, он заменяется ближайшим подходящим ключом из листового узла.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После замены удаление выполняется в листовом узле.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Если после удаления узел остаётся достаточно заполненным, операция завершается.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Если узел содержит слишком мало ключей, дерево пытается перераспределить ключи между данным узлом и соседним узлом.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Один из ключей переносится через родительский узел для восстановления минимальной заполненности.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Если перераспределение невозможно, соседние узлы объединяются вместе с разделяющим ключом родительского узла.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rgbClr val="333333"/>
              </a:buClr>
              <a:buSzPts val="1400"/>
              <a:buAutoNum type="arabicPeriod"/>
            </a:pPr>
            <a:r>
              <a:rPr lang="en-US">
                <a:solidFill>
                  <a:srgbClr val="333333"/>
                </a:solidFill>
                <a:highlight>
                  <a:srgbClr val="FFFFFF"/>
                </a:highlight>
              </a:rPr>
              <a:t>При необходимости балансировка продолжается вверх по дереву.</a:t>
            </a:r>
            <a:endParaRPr>
              <a:solidFill>
                <a:srgbClr val="333333"/>
              </a:solidFill>
              <a:highlight>
                <a:srgbClr val="FFFFFF"/>
              </a:highlight>
            </a:endParaRPr>
          </a:p>
        </p:txBody>
      </p:sp>
      <p:pic>
        <p:nvPicPr>
          <p:cNvPr id="137" name="Google Shape;137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053552"/>
            <a:ext cx="7421074" cy="20912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575" y="3135700"/>
            <a:ext cx="6623791" cy="19218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8"/>
          <p:cNvSpPr txBox="1"/>
          <p:nvPr/>
        </p:nvSpPr>
        <p:spPr>
          <a:xfrm>
            <a:off x="7328950" y="5053550"/>
            <a:ext cx="48720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US" sz="1200">
                <a:solidFill>
                  <a:srgbClr val="333333"/>
                </a:solidFill>
                <a:highlight>
                  <a:schemeClr val="lt1"/>
                </a:highlight>
              </a:rPr>
              <a:t>Сложность О(log n)</a:t>
            </a:r>
            <a:endParaRPr b="1" sz="2800">
              <a:solidFill>
                <a:schemeClr val="dk1"/>
              </a:solidFill>
            </a:endParaRPr>
          </a:p>
        </p:txBody>
      </p:sp>
      <p:sp>
        <p:nvSpPr>
          <p:cNvPr id="140" name="Google Shape;140;p18"/>
          <p:cNvSpPr txBox="1"/>
          <p:nvPr/>
        </p:nvSpPr>
        <p:spPr>
          <a:xfrm>
            <a:off x="56575" y="3705238"/>
            <a:ext cx="12753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300">
                <a:solidFill>
                  <a:schemeClr val="dk1"/>
                </a:solidFill>
              </a:rPr>
              <a:t>*удаляем 9</a:t>
            </a:r>
            <a:endParaRPr sz="1300">
              <a:solidFill>
                <a:schemeClr val="dk1"/>
              </a:solidFill>
            </a:endParaRPr>
          </a:p>
        </p:txBody>
      </p:sp>
      <p:pic>
        <p:nvPicPr>
          <p:cNvPr id="141" name="Google Shape;141;p1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093841" y="3575476"/>
            <a:ext cx="4533900" cy="1133475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18"/>
          <p:cNvSpPr txBox="1"/>
          <p:nvPr/>
        </p:nvSpPr>
        <p:spPr>
          <a:xfrm>
            <a:off x="7093850" y="3175050"/>
            <a:ext cx="942300" cy="50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</a:rPr>
              <a:t>итог</a:t>
            </a:r>
            <a:endParaRPr b="1"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7" name="Google Shape;147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00" y="66627"/>
            <a:ext cx="2665195" cy="5436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8" name="Google Shape;148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726795" y="66627"/>
            <a:ext cx="3921229" cy="5436998"/>
          </a:xfrm>
          <a:prstGeom prst="rect">
            <a:avLst/>
          </a:prstGeom>
          <a:noFill/>
          <a:ln>
            <a:noFill/>
          </a:ln>
        </p:spPr>
      </p:pic>
      <p:pic>
        <p:nvPicPr>
          <p:cNvPr id="149" name="Google Shape;149;p19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48025" y="66621"/>
            <a:ext cx="3042399" cy="3296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19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648024" y="3363500"/>
            <a:ext cx="2196776" cy="3109894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19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844800" y="3363496"/>
            <a:ext cx="2680548" cy="318970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E1E1E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6" name="Google Shape;15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350" y="84350"/>
            <a:ext cx="4152293" cy="6553201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36648" y="84350"/>
            <a:ext cx="4768750" cy="4271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58" name="Google Shape;158;p2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9005398" y="84350"/>
            <a:ext cx="2881802" cy="3608307"/>
          </a:xfrm>
          <a:prstGeom prst="rect">
            <a:avLst/>
          </a:prstGeom>
          <a:noFill/>
          <a:ln>
            <a:noFill/>
          </a:ln>
        </p:spPr>
      </p:pic>
      <p:pic>
        <p:nvPicPr>
          <p:cNvPr id="159" name="Google Shape;159;p2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4298468" y="4356225"/>
            <a:ext cx="3595050" cy="21969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C0C0C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21"/>
          <p:cNvSpPr txBox="1"/>
          <p:nvPr>
            <p:ph type="title"/>
          </p:nvPr>
        </p:nvSpPr>
        <p:spPr>
          <a:xfrm>
            <a:off x="163643" y="-209498"/>
            <a:ext cx="10515600" cy="1325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Данные</a:t>
            </a:r>
            <a:endParaRPr>
              <a:solidFill>
                <a:schemeClr val="lt1"/>
              </a:solidFill>
            </a:endParaRPr>
          </a:p>
        </p:txBody>
      </p:sp>
      <p:pic>
        <p:nvPicPr>
          <p:cNvPr id="165" name="Google Shape;165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01875" y="1053152"/>
            <a:ext cx="6229350" cy="828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6" name="Google Shape;166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01875" y="2478227"/>
            <a:ext cx="6324600" cy="809625"/>
          </a:xfrm>
          <a:prstGeom prst="rect">
            <a:avLst/>
          </a:prstGeom>
          <a:noFill/>
          <a:ln>
            <a:noFill/>
          </a:ln>
        </p:spPr>
      </p:pic>
      <p:pic>
        <p:nvPicPr>
          <p:cNvPr id="167" name="Google Shape;167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387588" y="4003252"/>
            <a:ext cx="6257925" cy="8667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1" name="Shape 1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" name="Google Shape;172;p22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Выводы</a:t>
            </a:r>
            <a:endParaRPr/>
          </a:p>
        </p:txBody>
      </p:sp>
      <p:sp>
        <p:nvSpPr>
          <p:cNvPr id="173" name="Google Shape;173;p22"/>
          <p:cNvSpPr txBox="1"/>
          <p:nvPr>
            <p:ph idx="1" type="body"/>
          </p:nvPr>
        </p:nvSpPr>
        <p:spPr>
          <a:xfrm>
            <a:off x="838200" y="1825625"/>
            <a:ext cx="10515600" cy="41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None/>
            </a:pP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Преимущества </a:t>
            </a:r>
            <a:r>
              <a:rPr lang="en-US" sz="1400">
                <a:solidFill>
                  <a:srgbClr val="000000"/>
                </a:solidFill>
              </a:rPr>
              <a:t>B* - дерева</a:t>
            </a:r>
            <a:r>
              <a:rPr lang="en-US" sz="14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:</a:t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0"/>
              <a:buNone/>
            </a:pPr>
            <a:r>
              <a:t/>
            </a:r>
            <a:endParaRPr sz="14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400"/>
              <a:t>1. </a:t>
            </a:r>
            <a:r>
              <a:rPr b="1" lang="en-US" sz="1400"/>
              <a:t>Логарифмическая сложность операций:</a:t>
            </a:r>
            <a:r>
              <a:rPr lang="en-US" sz="1400"/>
              <a:t> поиск, вставка и удаление выполняются за O(logn), благодаря этому структура эффективно работает даже при большом количестве данных.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400"/>
              <a:t>2. </a:t>
            </a:r>
            <a:r>
              <a:rPr b="1" lang="en-US" sz="1400"/>
              <a:t>Высокая заполненность узлов:</a:t>
            </a:r>
            <a:r>
              <a:rPr lang="en-US" sz="1400"/>
              <a:t> узлы B*-дерева заполняются минимум на 2/3, поэтому память используется эффективнее, чем в обычном B-дереве.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None/>
            </a:pPr>
            <a:r>
              <a:rPr lang="en-US" sz="1400"/>
              <a:t>3. </a:t>
            </a:r>
            <a:r>
              <a:rPr b="1" lang="en-US" sz="1400"/>
              <a:t>Эффективность при работе с диском:</a:t>
            </a:r>
            <a:r>
              <a:rPr lang="en-US" sz="1400"/>
              <a:t> структура хорошо подходит для внешней памяти, так как уменьшает количество обращений к диску.</a:t>
            </a:r>
            <a:endParaRPr sz="1400"/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rPr lang="en-US" sz="1400"/>
              <a:t>Недостатки </a:t>
            </a:r>
            <a:r>
              <a:rPr lang="en-US" sz="1400"/>
              <a:t>B* - дерева: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400"/>
              <a:t>1. </a:t>
            </a:r>
            <a:r>
              <a:rPr b="1" lang="en-US" sz="1400"/>
              <a:t>Сложность реализации: </a:t>
            </a:r>
            <a:r>
              <a:rPr lang="en-US" sz="1400"/>
              <a:t>алгоритмы вставки и удаления существенно сложнее, чем у бинарных деревьев поиска.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400"/>
              <a:t>2. </a:t>
            </a:r>
            <a:r>
              <a:rPr b="1" lang="en-US" sz="1400"/>
              <a:t>Дополнительные затраты на перераспределение: </a:t>
            </a:r>
            <a:r>
              <a:rPr lang="en-US" sz="1400"/>
              <a:t>при переполнении узлов B*-дерево пытается перераспределять ключи между соседями, что усложняет операции.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rPr lang="en-US" sz="1400"/>
              <a:t>3. </a:t>
            </a:r>
            <a:r>
              <a:rPr b="1" lang="en-US" sz="1400"/>
              <a:t>Неэффективность на маленьких объёмах данных: </a:t>
            </a:r>
            <a:r>
              <a:rPr lang="en-US" sz="1400"/>
              <a:t>для небольших наборов данных использование B*-дерева не всегда оправдано.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23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30"/>
              <a:buFont typeface="Arial"/>
              <a:buNone/>
            </a:pPr>
            <a:r>
              <a:t/>
            </a:r>
            <a:endParaRPr sz="14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330"/>
              <a:buNone/>
            </a:pPr>
            <a:r>
              <a:t/>
            </a:r>
            <a:endParaRPr sz="14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Выводы</a:t>
            </a:r>
            <a:endParaRPr/>
          </a:p>
        </p:txBody>
      </p:sp>
      <p:sp>
        <p:nvSpPr>
          <p:cNvPr id="179" name="Google Shape;179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lnSpcReduction="10000"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rPr lang="en-US" sz="2000">
                <a:solidFill>
                  <a:srgbClr val="000000"/>
                </a:solidFill>
              </a:rPr>
              <a:t>B* - дерево</a:t>
            </a:r>
            <a:r>
              <a:rPr lang="en-US" sz="200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полезны там, г</a:t>
            </a:r>
            <a:r>
              <a:rPr lang="en-US" sz="2000">
                <a:solidFill>
                  <a:srgbClr val="000000"/>
                </a:solidFill>
              </a:rPr>
              <a:t>де важны дисковые операции, где необходимо быстро работать с большими объёмами данных.</a:t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000">
                <a:solidFill>
                  <a:srgbClr val="000000"/>
                </a:solidFill>
              </a:rPr>
              <a:t>Основные области применения:</a:t>
            </a:r>
            <a:endParaRPr sz="20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Char char="●"/>
            </a:pPr>
            <a:r>
              <a:rPr lang="en-US" sz="2000">
                <a:solidFill>
                  <a:srgbClr val="000000"/>
                </a:solidFill>
              </a:rPr>
              <a:t>файловые системы;</a:t>
            </a:r>
            <a:endParaRPr sz="20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2000">
                <a:solidFill>
                  <a:srgbClr val="000000"/>
                </a:solidFill>
              </a:rPr>
              <a:t>системы управления базами данных (СУБД);</a:t>
            </a:r>
            <a:endParaRPr sz="20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2000">
                <a:solidFill>
                  <a:srgbClr val="000000"/>
                </a:solidFill>
              </a:rPr>
              <a:t>хранение данных на дисках и SSD;</a:t>
            </a:r>
            <a:endParaRPr sz="20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2000">
                <a:solidFill>
                  <a:srgbClr val="000000"/>
                </a:solidFill>
              </a:rPr>
              <a:t>поисковые системы;</a:t>
            </a:r>
            <a:endParaRPr sz="2000">
              <a:solidFill>
                <a:srgbClr val="000000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100"/>
              <a:buChar char="●"/>
            </a:pPr>
            <a:r>
              <a:rPr lang="en-US" sz="2000">
                <a:solidFill>
                  <a:srgbClr val="000000"/>
                </a:solidFill>
              </a:rPr>
              <a:t>многопользовательские серверные приложения.</a:t>
            </a:r>
            <a:endParaRPr sz="2000">
              <a:solidFill>
                <a:srgbClr val="000000"/>
              </a:solidFill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0" lvl="0" marL="0" rtl="0" algn="l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000000"/>
              </a:buClr>
              <a:buSzPts val="2000"/>
              <a:buNone/>
            </a:pPr>
            <a:r>
              <a:t/>
            </a:r>
            <a:endParaRPr sz="2000">
              <a:solidFill>
                <a:srgbClr val="000000"/>
              </a:solidFill>
            </a:endParaRPr>
          </a:p>
          <a:p>
            <a:pPr indent="-330200" lvl="0" marL="4572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</a:pPr>
            <a:r>
              <a:t/>
            </a:r>
            <a:endParaRPr sz="200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4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400"/>
              <a:buFont typeface="Arial"/>
              <a:buNone/>
            </a:pPr>
            <a:r>
              <a:rPr b="1" lang="en-US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Ссылка на репозиторий</a:t>
            </a:r>
            <a:endParaRPr/>
          </a:p>
        </p:txBody>
      </p:sp>
      <p:sp>
        <p:nvSpPr>
          <p:cNvPr id="185" name="Google Shape;185;p24"/>
          <p:cNvSpPr txBox="1"/>
          <p:nvPr/>
        </p:nvSpPr>
        <p:spPr>
          <a:xfrm>
            <a:off x="987950" y="1690700"/>
            <a:ext cx="6230700" cy="6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00">
                <a:solidFill>
                  <a:schemeClr val="dk1"/>
                </a:solidFill>
              </a:rPr>
              <a:t>https://github.com/rrxvlyy/BTree.git</a:t>
            </a:r>
            <a:endParaRPr sz="28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Тема Office">
  <a:themeElements>
    <a:clrScheme name="Office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